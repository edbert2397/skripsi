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6858000" cx="12191675"/>
  <p:notesSz cx="6858000" cy="9144000"/>
  <p:embeddedFontLst>
    <p:embeddedFont>
      <p:font typeface="Quattrocento Sans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QuattrocentoSans-regular.fntdata"/><Relationship Id="rId21" Type="http://schemas.openxmlformats.org/officeDocument/2006/relationships/slide" Target="slides/slide16.xml"/><Relationship Id="rId24" Type="http://schemas.openxmlformats.org/officeDocument/2006/relationships/font" Target="fonts/QuattrocentoSans-italic.fntdata"/><Relationship Id="rId23" Type="http://schemas.openxmlformats.org/officeDocument/2006/relationships/font" Target="fonts/QuattrocentoSans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Quattrocento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cd1b3f36f7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cd1b3f36f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cd1b3f36f7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cd1b3f36f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DLOG</a:t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Dual-LoRA Orthogonal Gating</a:t>
            </a:r>
            <a:br>
              <a:rPr b="0" i="0" lang="en-US" sz="28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28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for Continual Learning on Large Language Models</a:t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4114800" y="3931920"/>
            <a:ext cx="3657600" cy="38100"/>
          </a:xfrm>
          <a:prstGeom prst="rect">
            <a:avLst/>
          </a:prstGeom>
          <a:solidFill>
            <a:srgbClr val="00D2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914400" y="4297680"/>
            <a:ext cx="100584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CCC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Backbone: Qwen2.5-1.</a:t>
            </a:r>
            <a:r>
              <a:rPr b="0" i="0" lang="en-US" sz="1800" u="none" cap="none" strike="noStrike">
                <a:solidFill>
                  <a:srgbClr val="CCCC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</a:t>
            </a:r>
            <a:r>
              <a:rPr b="0" i="0" lang="en-US" sz="1800" u="none" cap="none" strike="noStrike">
                <a:solidFill>
                  <a:srgbClr val="CCCC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  |  Tasks: SST-2, AG News, Amazon Reviews, DBPedia-14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914400" y="530352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Skripsi Presentation —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rgbClr val="00D2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!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1188720" y="320040"/>
            <a:ext cx="9144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Problem: Catastrophic Forgetting</a:t>
            </a:r>
            <a:endParaRPr/>
          </a:p>
        </p:txBody>
      </p:sp>
      <p:sp>
        <p:nvSpPr>
          <p:cNvPr id="95" name="Google Shape;95;p14"/>
          <p:cNvSpPr/>
          <p:nvPr/>
        </p:nvSpPr>
        <p:spPr>
          <a:xfrm>
            <a:off x="1188720" y="1051560"/>
            <a:ext cx="4572000" cy="38100"/>
          </a:xfrm>
          <a:prstGeom prst="rect">
            <a:avLst/>
          </a:prstGeom>
          <a:solidFill>
            <a:srgbClr val="00D2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731520" y="1371600"/>
            <a:ext cx="5029200" cy="17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CCCC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LLMs fine-tuned on new tasks forget previous knowledge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CCCC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Sequential learning: Task 1 → Task 2 → ... → Task N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502920" y="3116095"/>
            <a:ext cx="105156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DLOG Solution: 3 complementary mechanisms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609070" y="3830690"/>
            <a:ext cx="10515600" cy="15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CCC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 Dual-LoRA Architecture — separate Slow (memory) and Fast (task) adapters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CCC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 Orthogonal Gating — soft + hard constraints keep Fast ⊥ Slow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CCC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 IPC Neuron Freezing — freeze the most important modules to protect memory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CCC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+ Experience Replay — reservoir sampling from past tasks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5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rgbClr val="00D2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1188720" y="320040"/>
            <a:ext cx="9144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Model Backbone: Qwen2.5-1.5B</a:t>
            </a:r>
            <a:endParaRPr/>
          </a:p>
        </p:txBody>
      </p:sp>
      <p:sp>
        <p:nvSpPr>
          <p:cNvPr id="105" name="Google Shape;105;p15"/>
          <p:cNvSpPr/>
          <p:nvPr/>
        </p:nvSpPr>
        <p:spPr>
          <a:xfrm>
            <a:off x="1188720" y="1051560"/>
            <a:ext cx="4572000" cy="38100"/>
          </a:xfrm>
          <a:prstGeom prst="rect">
            <a:avLst/>
          </a:prstGeom>
          <a:solidFill>
            <a:srgbClr val="00D2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5"/>
          <p:cNvSpPr txBox="1"/>
          <p:nvPr/>
        </p:nvSpPr>
        <p:spPr>
          <a:xfrm>
            <a:off x="731520" y="1371600"/>
            <a:ext cx="5029200" cy="27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CCC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Base: Qwen2.5-1.5B (decoder-only LLM)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CCC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Head: AutoModelForSequenceClassification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CCC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Total labels = sum of all task classes (2+4+2+14 = 22)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CCC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All base weights FROZEN (requires_grad=False)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CCC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Only LoRA adapters + classification head are trainable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5"/>
          <p:cNvSpPr/>
          <p:nvPr/>
        </p:nvSpPr>
        <p:spPr>
          <a:xfrm>
            <a:off x="6400800" y="1188720"/>
            <a:ext cx="5303520" cy="3657600"/>
          </a:xfrm>
          <a:prstGeom prst="roundRect">
            <a:avLst>
              <a:gd fmla="val 16667" name="adj"/>
            </a:avLst>
          </a:prstGeom>
          <a:solidFill>
            <a:srgbClr val="0D1117"/>
          </a:solidFill>
          <a:ln>
            <a:noFill/>
          </a:ln>
        </p:spPr>
        <p:txBody>
          <a:bodyPr anchorCtr="0" anchor="ctr" bIns="101600" lIns="152400" spcFirstLastPara="1" rIns="152400" wrap="square" tIns="101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D2FF"/>
                </a:solidFill>
                <a:latin typeface="Consolas"/>
                <a:ea typeface="Consolas"/>
                <a:cs typeface="Consolas"/>
                <a:sym typeface="Consolas"/>
              </a:rPr>
              <a:t>Qwen2.5-1.5B (FROZEN)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D2FF"/>
                </a:solidFill>
                <a:latin typeface="Consolas"/>
                <a:ea typeface="Consolas"/>
                <a:cs typeface="Consolas"/>
                <a:sym typeface="Consolas"/>
              </a:rPr>
              <a:t>  ├── Embedding Layer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D2FF"/>
                </a:solidFill>
                <a:latin typeface="Consolas"/>
                <a:ea typeface="Consolas"/>
                <a:cs typeface="Consolas"/>
                <a:sym typeface="Consolas"/>
              </a:rPr>
              <a:t>  ├── Transformer Layers x28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D2FF"/>
                </a:solidFill>
                <a:latin typeface="Consolas"/>
                <a:ea typeface="Consolas"/>
                <a:cs typeface="Consolas"/>
                <a:sym typeface="Consolas"/>
              </a:rPr>
              <a:t>  │     ├── Self-Attention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D2FF"/>
                </a:solidFill>
                <a:latin typeface="Consolas"/>
                <a:ea typeface="Consolas"/>
                <a:cs typeface="Consolas"/>
                <a:sym typeface="Consolas"/>
              </a:rPr>
              <a:t>  │     │    ├── q_proj ← DualLoRA injected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D2FF"/>
                </a:solidFill>
                <a:latin typeface="Consolas"/>
                <a:ea typeface="Consolas"/>
                <a:cs typeface="Consolas"/>
                <a:sym typeface="Consolas"/>
              </a:rPr>
              <a:t>  │     │    ├── k_proj ← DualLoRA injected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D2FF"/>
                </a:solidFill>
                <a:latin typeface="Consolas"/>
                <a:ea typeface="Consolas"/>
                <a:cs typeface="Consolas"/>
                <a:sym typeface="Consolas"/>
              </a:rPr>
              <a:t>  │     │    ├── v_proj ← DualLoRA injected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D2FF"/>
                </a:solidFill>
                <a:latin typeface="Consolas"/>
                <a:ea typeface="Consolas"/>
                <a:cs typeface="Consolas"/>
                <a:sym typeface="Consolas"/>
              </a:rPr>
              <a:t>  │     │    └── o_proj ← DualLoRA injected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D2FF"/>
                </a:solidFill>
                <a:latin typeface="Consolas"/>
                <a:ea typeface="Consolas"/>
                <a:cs typeface="Consolas"/>
                <a:sym typeface="Consolas"/>
              </a:rPr>
              <a:t>  │     └── MLP (frozen)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D2FF"/>
                </a:solidFill>
                <a:latin typeface="Consolas"/>
                <a:ea typeface="Consolas"/>
                <a:cs typeface="Consolas"/>
                <a:sym typeface="Consolas"/>
              </a:rPr>
              <a:t>  └── Classification Head (TRAINABLE)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D2FF"/>
                </a:solidFill>
                <a:latin typeface="Consolas"/>
                <a:ea typeface="Consolas"/>
                <a:cs typeface="Consolas"/>
                <a:sym typeface="Consolas"/>
              </a:rPr>
              <a:t>       └── score: Linear(1536, 22)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731520" y="457200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LoRA Config: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731520" y="5029200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rank = 16,  alpha = 16,  scaling = alpha/rank = 1.0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Target modules: q_proj, k_proj, v_proj, o_proj  (4 per layer × 28 layers = 112 DualLoRA modules)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6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rgbClr val="00D2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/>
          </a:p>
        </p:txBody>
      </p:sp>
      <p:sp>
        <p:nvSpPr>
          <p:cNvPr id="115" name="Google Shape;115;p16"/>
          <p:cNvSpPr txBox="1"/>
          <p:nvPr/>
        </p:nvSpPr>
        <p:spPr>
          <a:xfrm>
            <a:off x="1188720" y="320040"/>
            <a:ext cx="9144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Dual-LoRA: Slow (Memory) + Fast (Task)</a:t>
            </a:r>
            <a:endParaRPr/>
          </a:p>
        </p:txBody>
      </p:sp>
      <p:sp>
        <p:nvSpPr>
          <p:cNvPr id="116" name="Google Shape;116;p16"/>
          <p:cNvSpPr/>
          <p:nvPr/>
        </p:nvSpPr>
        <p:spPr>
          <a:xfrm>
            <a:off x="1188720" y="1051560"/>
            <a:ext cx="4572000" cy="38100"/>
          </a:xfrm>
          <a:prstGeom prst="rect">
            <a:avLst/>
          </a:prstGeom>
          <a:solidFill>
            <a:srgbClr val="00D2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6"/>
          <p:cNvSpPr txBox="1"/>
          <p:nvPr/>
        </p:nvSpPr>
        <p:spPr>
          <a:xfrm>
            <a:off x="731520" y="137160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Slow LoRA (Memory)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731520" y="1920240"/>
            <a:ext cx="5029200" cy="18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Stores consolidated knowledge from ALL past tasks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ZERO-initialized → silent during Task 1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NEVER trained directly (requires_grad=False)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Only updated at task boundary via consolidation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Provides null-space for orthogonal projection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6400800" y="137160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6B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Fast LoRA (Task)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6400800" y="1920240"/>
            <a:ext cx="50292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Learns the CURRENT task only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Kaiming-init A_fast, Zero-init B_fast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Trained via backprop every step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RESET after each task consolidation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Constrained to be orthogonal to Slow</a:t>
            </a:r>
            <a:endParaRPr/>
          </a:p>
        </p:txBody>
      </p:sp>
      <p:sp>
        <p:nvSpPr>
          <p:cNvPr id="121" name="Google Shape;121;p16"/>
          <p:cNvSpPr/>
          <p:nvPr/>
        </p:nvSpPr>
        <p:spPr>
          <a:xfrm>
            <a:off x="1005850" y="4297675"/>
            <a:ext cx="9966900" cy="1097400"/>
          </a:xfrm>
          <a:prstGeom prst="roundRect">
            <a:avLst>
              <a:gd fmla="val 16667" name="adj"/>
            </a:avLst>
          </a:prstGeom>
          <a:solidFill>
            <a:schemeClr val="dk1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52400" spcFirstLastPara="1" rIns="91425" wrap="square" tIns="76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FFD93D"/>
                </a:solidFill>
                <a:latin typeface="Consolas"/>
                <a:ea typeface="Consolas"/>
                <a:cs typeface="Consolas"/>
                <a:sym typeface="Consolas"/>
              </a:rPr>
              <a:t>y = W_frozen · x  +  (α/r) · B_slow @ A_slow @ x  +  (α/r) · B_fast @ A_fast @ x     Base (frozen)          Slow (Memory)                    Fast (Task)</a:t>
            </a:r>
            <a:endParaRPr/>
          </a:p>
        </p:txBody>
      </p:sp>
      <p:sp>
        <p:nvSpPr>
          <p:cNvPr id="122" name="Google Shape;122;p16"/>
          <p:cNvSpPr/>
          <p:nvPr/>
        </p:nvSpPr>
        <p:spPr>
          <a:xfrm>
            <a:off x="1371600" y="5577840"/>
            <a:ext cx="9144000" cy="1005840"/>
          </a:xfrm>
          <a:prstGeom prst="roundRect">
            <a:avLst>
              <a:gd fmla="val 16667" name="adj"/>
            </a:avLst>
          </a:prstGeom>
          <a:solidFill>
            <a:srgbClr val="0D1117"/>
          </a:solidFill>
          <a:ln>
            <a:noFill/>
          </a:ln>
        </p:spPr>
        <p:txBody>
          <a:bodyPr anchorCtr="0" anchor="ctr" bIns="101600" lIns="152400" spcFirstLastPara="1" rIns="152400" wrap="square" tIns="101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D2FF"/>
                </a:solidFill>
                <a:latin typeface="Consolas"/>
                <a:ea typeface="Consolas"/>
                <a:cs typeface="Consolas"/>
                <a:sym typeface="Consolas"/>
              </a:rPr>
              <a:t># Initialization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D2FF"/>
                </a:solidFill>
                <a:latin typeface="Consolas"/>
                <a:ea typeface="Consolas"/>
                <a:cs typeface="Consolas"/>
                <a:sym typeface="Consolas"/>
              </a:rPr>
              <a:t>Slow: A_slow = 0, B_slow = 0          # Silent until consolidation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D2FF"/>
                </a:solidFill>
                <a:latin typeface="Consolas"/>
                <a:ea typeface="Consolas"/>
                <a:cs typeface="Consolas"/>
                <a:sym typeface="Consolas"/>
              </a:rPr>
              <a:t>Fast: A_fast = Kaiming, B_fast = 0    # Standard LoRA init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7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rgbClr val="00D2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/>
          </a:p>
        </p:txBody>
      </p:sp>
      <p:sp>
        <p:nvSpPr>
          <p:cNvPr id="128" name="Google Shape;128;p17"/>
          <p:cNvSpPr txBox="1"/>
          <p:nvPr/>
        </p:nvSpPr>
        <p:spPr>
          <a:xfrm>
            <a:off x="1188720" y="320040"/>
            <a:ext cx="9144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Forward Pass: How DualLoRALinear Works</a:t>
            </a:r>
            <a:endParaRPr/>
          </a:p>
        </p:txBody>
      </p:sp>
      <p:sp>
        <p:nvSpPr>
          <p:cNvPr id="129" name="Google Shape;129;p17"/>
          <p:cNvSpPr/>
          <p:nvPr/>
        </p:nvSpPr>
        <p:spPr>
          <a:xfrm>
            <a:off x="1188720" y="1051560"/>
            <a:ext cx="4572000" cy="38100"/>
          </a:xfrm>
          <a:prstGeom prst="rect">
            <a:avLst/>
          </a:prstGeom>
          <a:solidFill>
            <a:srgbClr val="00D2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7"/>
          <p:cNvSpPr/>
          <p:nvPr/>
        </p:nvSpPr>
        <p:spPr>
          <a:xfrm>
            <a:off x="838038" y="1367849"/>
            <a:ext cx="10515600" cy="3207900"/>
          </a:xfrm>
          <a:prstGeom prst="roundRect">
            <a:avLst>
              <a:gd fmla="val 16667" name="adj"/>
            </a:avLst>
          </a:prstGeom>
          <a:solidFill>
            <a:srgbClr val="0D1117"/>
          </a:solidFill>
          <a:ln>
            <a:noFill/>
          </a:ln>
        </p:spPr>
        <p:txBody>
          <a:bodyPr anchorCtr="0" anchor="ctr" bIns="101600" lIns="152400" spcFirstLastPara="1" rIns="152400" wrap="square" tIns="101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D2FF"/>
                </a:solidFill>
                <a:latin typeface="Consolas"/>
                <a:ea typeface="Consolas"/>
                <a:cs typeface="Consolas"/>
                <a:sym typeface="Consolas"/>
              </a:rPr>
              <a:t>def forward(self, x):                          # x: [batch, seq_len, d_in]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D2FF"/>
                </a:solidFill>
                <a:latin typeface="Consolas"/>
                <a:ea typeface="Consolas"/>
                <a:cs typeface="Consolas"/>
                <a:sym typeface="Consolas"/>
              </a:rPr>
              <a:t>    # 1. Base frozen linear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D2FF"/>
                </a:solidFill>
                <a:latin typeface="Consolas"/>
                <a:ea typeface="Consolas"/>
                <a:cs typeface="Consolas"/>
                <a:sym typeface="Consolas"/>
              </a:rPr>
              <a:t>    out = F.linear(x, W_frozen, bias)          # [batch, seq_len, d_out]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00D2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D2FF"/>
                </a:solidFill>
                <a:latin typeface="Consolas"/>
                <a:ea typeface="Consolas"/>
                <a:cs typeface="Consolas"/>
                <a:sym typeface="Consolas"/>
              </a:rPr>
              <a:t>    # 2. Slow LoRA (Memory branch) — encodes knowledge from tasks 1..t-1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D2FF"/>
                </a:solidFill>
                <a:latin typeface="Consolas"/>
                <a:ea typeface="Consolas"/>
                <a:cs typeface="Consolas"/>
                <a:sym typeface="Consolas"/>
              </a:rPr>
              <a:t>    slow = F.linear(F.linear(x, A_slow), B_slow) * (α/r)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D2FF"/>
                </a:solidFill>
                <a:latin typeface="Consolas"/>
                <a:ea typeface="Consolas"/>
                <a:cs typeface="Consolas"/>
                <a:sym typeface="Consolas"/>
              </a:rPr>
              <a:t>    #      x → [b,s,d_in] @ A_slow^T → [b,s,r] @ B_slow^T → [b,s,d_out]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00D2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D2FF"/>
                </a:solidFill>
                <a:latin typeface="Consolas"/>
                <a:ea typeface="Consolas"/>
                <a:cs typeface="Consolas"/>
                <a:sym typeface="Consolas"/>
              </a:rPr>
              <a:t>    # 3. Fast LoRA (Task branch) — learns current task t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D2FF"/>
                </a:solidFill>
                <a:latin typeface="Consolas"/>
                <a:ea typeface="Consolas"/>
                <a:cs typeface="Consolas"/>
                <a:sym typeface="Consolas"/>
              </a:rPr>
              <a:t>    fast = F.linear(F.linear(x, A_fast), B_fast) * (α/r)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00D2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D2FF"/>
                </a:solidFill>
                <a:latin typeface="Consolas"/>
                <a:ea typeface="Consolas"/>
                <a:cs typeface="Consolas"/>
                <a:sym typeface="Consolas"/>
              </a:rPr>
              <a:t>    return out + slow + fast                    # Sum of all 3 branches</a:t>
            </a:r>
            <a:endParaRPr/>
          </a:p>
        </p:txBody>
      </p:sp>
      <p:sp>
        <p:nvSpPr>
          <p:cNvPr id="131" name="Google Shape;131;p17"/>
          <p:cNvSpPr txBox="1"/>
          <p:nvPr/>
        </p:nvSpPr>
        <p:spPr>
          <a:xfrm>
            <a:off x="731520" y="4572000"/>
            <a:ext cx="10515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7"/>
          <p:cNvSpPr txBox="1"/>
          <p:nvPr/>
        </p:nvSpPr>
        <p:spPr>
          <a:xfrm>
            <a:off x="731520" y="5029200"/>
            <a:ext cx="10515600" cy="11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CCC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Task 1: Slow = 0 (zero-init), so y = W·x + Fast — only Fast learns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CCC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Task 2+: Slow = consolidated memory (frozen), Fast learns in null-space of </a:t>
            </a:r>
            <a:r>
              <a:rPr b="0" i="0" lang="en-US" sz="1800" u="none" cap="none" strike="noStrike">
                <a:solidFill>
                  <a:srgbClr val="CCCC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Slow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CCC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After consolidation, Fast is merged into Slow → y = W·x + Slow_new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8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rgbClr val="00D2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</a:t>
            </a:r>
            <a:endParaRPr/>
          </a:p>
        </p:txBody>
      </p:sp>
      <p:sp>
        <p:nvSpPr>
          <p:cNvPr id="138" name="Google Shape;138;p18"/>
          <p:cNvSpPr txBox="1"/>
          <p:nvPr/>
        </p:nvSpPr>
        <p:spPr>
          <a:xfrm>
            <a:off x="1188720" y="320040"/>
            <a:ext cx="9144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Forward &amp; Backward Transfer</a:t>
            </a:r>
            <a:endParaRPr/>
          </a:p>
        </p:txBody>
      </p:sp>
      <p:sp>
        <p:nvSpPr>
          <p:cNvPr id="139" name="Google Shape;139;p18"/>
          <p:cNvSpPr/>
          <p:nvPr/>
        </p:nvSpPr>
        <p:spPr>
          <a:xfrm>
            <a:off x="1188720" y="1051560"/>
            <a:ext cx="4572000" cy="38100"/>
          </a:xfrm>
          <a:prstGeom prst="rect">
            <a:avLst/>
          </a:prstGeom>
          <a:solidFill>
            <a:srgbClr val="00D2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>
            <a:off x="731520" y="1280160"/>
            <a:ext cx="50292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4ECB7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Forward Transfer </a:t>
            </a:r>
            <a:endParaRPr/>
          </a:p>
        </p:txBody>
      </p:sp>
      <p:sp>
        <p:nvSpPr>
          <p:cNvPr id="141" name="Google Shape;141;p18"/>
          <p:cNvSpPr txBox="1"/>
          <p:nvPr/>
        </p:nvSpPr>
        <p:spPr>
          <a:xfrm>
            <a:off x="731520" y="1828800"/>
            <a:ext cx="50292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New task starts with: y = W·x + Slow_memory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Fast learns complementary features in null-space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Shared classification head accumulates all classes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Replay mixes old + new data → shared representations</a:t>
            </a:r>
            <a:endParaRPr/>
          </a:p>
        </p:txBody>
      </p:sp>
      <p:sp>
        <p:nvSpPr>
          <p:cNvPr id="142" name="Google Shape;142;p18"/>
          <p:cNvSpPr txBox="1"/>
          <p:nvPr/>
        </p:nvSpPr>
        <p:spPr>
          <a:xfrm>
            <a:off x="6400800" y="1280160"/>
            <a:ext cx="50292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6B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Backward Transfer</a:t>
            </a:r>
            <a:endParaRPr/>
          </a:p>
        </p:txBody>
      </p:sp>
      <p:sp>
        <p:nvSpPr>
          <p:cNvPr id="143" name="Google Shape;143;p18"/>
          <p:cNvSpPr txBox="1"/>
          <p:nvPr/>
        </p:nvSpPr>
        <p:spPr>
          <a:xfrm>
            <a:off x="6400800" y="1828800"/>
            <a:ext cx="5029200" cy="18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 mechanisms prevent catastrophic forgetting: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(a) Orthogonal Gating: Fast ⊥ Slow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(b) </a:t>
            </a:r>
            <a:r>
              <a:rPr lang="en-US" sz="1700">
                <a:solidFill>
                  <a:srgbClr val="CCCC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Reservoir </a:t>
            </a:r>
            <a:r>
              <a:rPr b="0" i="0" lang="en-US" sz="1700" u="none" cap="none" strike="noStrike">
                <a:solidFill>
                  <a:srgbClr val="CCCC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Replay: rehearse old data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(c) IPC Freezing: lock critical modules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Slow is NEVER modified during training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9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rgbClr val="00D2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</a:t>
            </a:r>
            <a:endParaRPr/>
          </a:p>
        </p:txBody>
      </p:sp>
      <p:sp>
        <p:nvSpPr>
          <p:cNvPr id="149" name="Google Shape;149;p19"/>
          <p:cNvSpPr txBox="1"/>
          <p:nvPr/>
        </p:nvSpPr>
        <p:spPr>
          <a:xfrm>
            <a:off x="1188720" y="320040"/>
            <a:ext cx="9144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Mechanism 1: Replay</a:t>
            </a:r>
            <a:endParaRPr/>
          </a:p>
        </p:txBody>
      </p:sp>
      <p:sp>
        <p:nvSpPr>
          <p:cNvPr id="150" name="Google Shape;150;p19"/>
          <p:cNvSpPr/>
          <p:nvPr/>
        </p:nvSpPr>
        <p:spPr>
          <a:xfrm>
            <a:off x="1188720" y="1051560"/>
            <a:ext cx="4572000" cy="38100"/>
          </a:xfrm>
          <a:prstGeom prst="rect">
            <a:avLst/>
          </a:prstGeom>
          <a:solidFill>
            <a:srgbClr val="00D2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9"/>
          <p:cNvSpPr txBox="1"/>
          <p:nvPr/>
        </p:nvSpPr>
        <p:spPr>
          <a:xfrm>
            <a:off x="731520" y="1371600"/>
            <a:ext cx="5029200" cy="27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CCC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Reservoir Sampling — uniform coverage of ALL past tasks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CCC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Buffer size: 400-750 samples per task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CCC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Replay ratio: 10-20% of each training batch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CCC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Samples added from current task too (for future replay)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CCC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Mixed batch = (1−ρ) · current_data + ρ · replay_data</a:t>
            </a:r>
            <a:endParaRPr/>
          </a:p>
        </p:txBody>
      </p:sp>
      <p:sp>
        <p:nvSpPr>
          <p:cNvPr id="152" name="Google Shape;152;p19"/>
          <p:cNvSpPr/>
          <p:nvPr/>
        </p:nvSpPr>
        <p:spPr>
          <a:xfrm>
            <a:off x="731525" y="4206249"/>
            <a:ext cx="10515600" cy="2286000"/>
          </a:xfrm>
          <a:prstGeom prst="roundRect">
            <a:avLst>
              <a:gd fmla="val 16667" name="adj"/>
            </a:avLst>
          </a:prstGeom>
          <a:solidFill>
            <a:srgbClr val="0D1117"/>
          </a:solidFill>
          <a:ln>
            <a:noFill/>
          </a:ln>
        </p:spPr>
        <p:txBody>
          <a:bodyPr anchorCtr="0" anchor="ctr" bIns="101600" lIns="152400" spcFirstLastPara="1" rIns="152400" wrap="square" tIns="101600">
            <a:noAutofit/>
          </a:bodyPr>
          <a:lstStyle/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D2FF"/>
                </a:solidFill>
                <a:latin typeface="Consolas"/>
                <a:ea typeface="Consolas"/>
                <a:cs typeface="Consolas"/>
                <a:sym typeface="Consolas"/>
              </a:rPr>
              <a:t>combined_batch, replay_batch = create_mixed_batch(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D2FF"/>
                </a:solidFill>
                <a:latin typeface="Consolas"/>
                <a:ea typeface="Consolas"/>
                <a:cs typeface="Consolas"/>
                <a:sym typeface="Consolas"/>
              </a:rPr>
              <a:t>    current_batch,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D2FF"/>
                </a:solidFill>
                <a:latin typeface="Consolas"/>
                <a:ea typeface="Consolas"/>
                <a:cs typeface="Consolas"/>
                <a:sym typeface="Consolas"/>
              </a:rPr>
              <a:t>    replay_buffer,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D2FF"/>
                </a:solidFill>
                <a:latin typeface="Consolas"/>
                <a:ea typeface="Consolas"/>
                <a:cs typeface="Consolas"/>
                <a:sym typeface="Consolas"/>
              </a:rPr>
              <a:t>    replay_ratio=0.1,    # 10% replay, 90% current task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D2FF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D2FF"/>
                </a:solidFill>
                <a:latin typeface="Consolas"/>
                <a:ea typeface="Consolas"/>
                <a:cs typeface="Consolas"/>
                <a:sym typeface="Consolas"/>
              </a:rPr>
              <a:t>replay_buffer.add_batch(current_batch)  # Add to buffer for future tasks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D2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D2FF"/>
                </a:solidFill>
                <a:latin typeface="Consolas"/>
                <a:ea typeface="Consolas"/>
                <a:cs typeface="Consolas"/>
                <a:sym typeface="Consolas"/>
              </a:rPr>
              <a:t>loss = model(combined_batch)            # Train on mixed data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0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rgbClr val="00D2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</a:t>
            </a:r>
            <a:endParaRPr/>
          </a:p>
        </p:txBody>
      </p:sp>
      <p:sp>
        <p:nvSpPr>
          <p:cNvPr id="158" name="Google Shape;158;p20"/>
          <p:cNvSpPr txBox="1"/>
          <p:nvPr/>
        </p:nvSpPr>
        <p:spPr>
          <a:xfrm>
            <a:off x="1188720" y="320040"/>
            <a:ext cx="9144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Mechanism 2a: Soft Orthogonal Constraint</a:t>
            </a:r>
            <a:endParaRPr/>
          </a:p>
        </p:txBody>
      </p:sp>
      <p:sp>
        <p:nvSpPr>
          <p:cNvPr id="159" name="Google Shape;159;p20"/>
          <p:cNvSpPr/>
          <p:nvPr/>
        </p:nvSpPr>
        <p:spPr>
          <a:xfrm>
            <a:off x="1188720" y="1051560"/>
            <a:ext cx="4572000" cy="38100"/>
          </a:xfrm>
          <a:prstGeom prst="rect">
            <a:avLst/>
          </a:prstGeom>
          <a:solidFill>
            <a:srgbClr val="00D2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20"/>
          <p:cNvSpPr txBox="1"/>
          <p:nvPr/>
        </p:nvSpPr>
        <p:spPr>
          <a:xfrm>
            <a:off x="731520" y="128016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CCCC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Penalize overlap between Fast and Slow subspaces via regularization loss</a:t>
            </a:r>
            <a:endParaRPr/>
          </a:p>
        </p:txBody>
      </p:sp>
      <p:sp>
        <p:nvSpPr>
          <p:cNvPr id="161" name="Google Shape;161;p20"/>
          <p:cNvSpPr/>
          <p:nvPr/>
        </p:nvSpPr>
        <p:spPr>
          <a:xfrm>
            <a:off x="1005850" y="5073250"/>
            <a:ext cx="10347900" cy="797700"/>
          </a:xfrm>
          <a:prstGeom prst="roundRect">
            <a:avLst>
              <a:gd fmla="val 16667" name="adj"/>
            </a:avLst>
          </a:prstGeom>
          <a:solidFill>
            <a:srgbClr val="101525"/>
          </a:solidFill>
          <a:ln cap="flat" cmpd="sng" w="19050">
            <a:solidFill>
              <a:srgbClr val="00D2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52400" spcFirstLastPara="1" rIns="91425" wrap="square" tIns="76200">
            <a:noAutofit/>
          </a:bodyPr>
          <a:lstStyle/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D93D"/>
                </a:solidFill>
                <a:latin typeface="Consolas"/>
                <a:ea typeface="Consolas"/>
                <a:cs typeface="Consolas"/>
                <a:sym typeface="Consolas"/>
              </a:rPr>
              <a:t>L_total = L_task  +  λ_orth · L_orth        (λ_orth = 0.01)</a:t>
            </a:r>
            <a:endParaRPr/>
          </a:p>
        </p:txBody>
      </p:sp>
      <p:sp>
        <p:nvSpPr>
          <p:cNvPr id="162" name="Google Shape;162;p20"/>
          <p:cNvSpPr/>
          <p:nvPr/>
        </p:nvSpPr>
        <p:spPr>
          <a:xfrm>
            <a:off x="838025" y="1887150"/>
            <a:ext cx="10515600" cy="2747700"/>
          </a:xfrm>
          <a:prstGeom prst="roundRect">
            <a:avLst>
              <a:gd fmla="val 16667" name="adj"/>
            </a:avLst>
          </a:prstGeom>
          <a:solidFill>
            <a:srgbClr val="0D1117"/>
          </a:solidFill>
          <a:ln>
            <a:noFill/>
          </a:ln>
        </p:spPr>
        <p:txBody>
          <a:bodyPr anchorCtr="0" anchor="ctr" bIns="101600" lIns="152400" spcFirstLastPara="1" rIns="152400" wrap="square" tIns="101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D2FF"/>
                </a:solidFill>
                <a:latin typeface="Consolas"/>
                <a:ea typeface="Consolas"/>
                <a:cs typeface="Consolas"/>
                <a:sym typeface="Consolas"/>
              </a:rPr>
              <a:t>def compute_orth_loss(dual_layers):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D2FF"/>
                </a:solidFill>
                <a:latin typeface="Consolas"/>
                <a:ea typeface="Consolas"/>
                <a:cs typeface="Consolas"/>
                <a:sym typeface="Consolas"/>
              </a:rPr>
              <a:t>    loss = 0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D2FF"/>
                </a:solidFill>
                <a:latin typeface="Consolas"/>
                <a:ea typeface="Consolas"/>
                <a:cs typeface="Consolas"/>
                <a:sym typeface="Consolas"/>
              </a:rPr>
              <a:t>    for layer in dual_layers: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D2FF"/>
                </a:solidFill>
                <a:latin typeface="Consolas"/>
                <a:ea typeface="Consolas"/>
                <a:cs typeface="Consolas"/>
                <a:sym typeface="Consolas"/>
              </a:rPr>
              <a:t>        A_s, B_s = layer.get_slow_params()    # [r, d_in], [d_out, r]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D2FF"/>
                </a:solidFill>
                <a:latin typeface="Consolas"/>
                <a:ea typeface="Consolas"/>
                <a:cs typeface="Consolas"/>
                <a:sym typeface="Consolas"/>
              </a:rPr>
              <a:t>        A_f, B_f = layer.get_fast_params()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D2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D2FF"/>
                </a:solidFill>
                <a:latin typeface="Consolas"/>
                <a:ea typeface="Consolas"/>
                <a:cs typeface="Consolas"/>
                <a:sym typeface="Consolas"/>
              </a:rPr>
              <a:t>        # Penalize row-space overlap:  A_f · A_sᵀ should be zero-matrix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D2FF"/>
                </a:solidFill>
                <a:latin typeface="Consolas"/>
                <a:ea typeface="Consolas"/>
                <a:cs typeface="Consolas"/>
                <a:sym typeface="Consolas"/>
              </a:rPr>
              <a:t>        loss += ||A_f @ A_s.T||²_F             # [r, r] → scalar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D2FF"/>
                </a:solidFill>
                <a:latin typeface="Consolas"/>
                <a:ea typeface="Consolas"/>
                <a:cs typeface="Consolas"/>
                <a:sym typeface="Consolas"/>
              </a:rPr>
              <a:t>        # Penalize column-space overlap: B_fᵀ · B_s should be zero-matrix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D2FF"/>
                </a:solidFill>
                <a:latin typeface="Consolas"/>
                <a:ea typeface="Consolas"/>
                <a:cs typeface="Consolas"/>
                <a:sym typeface="Consolas"/>
              </a:rPr>
              <a:t>        loss += ||B_f.T @ B_s||²_F             # [r, r] → scalar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D2FF"/>
                </a:solidFill>
                <a:latin typeface="Consolas"/>
                <a:ea typeface="Consolas"/>
                <a:cs typeface="Consolas"/>
                <a:sym typeface="Consolas"/>
              </a:rPr>
              <a:t>    return loss</a:t>
            </a:r>
            <a:endParaRPr/>
          </a:p>
        </p:txBody>
      </p:sp>
      <p:sp>
        <p:nvSpPr>
          <p:cNvPr id="163" name="Google Shape;163;p20"/>
          <p:cNvSpPr txBox="1"/>
          <p:nvPr/>
        </p:nvSpPr>
        <p:spPr>
          <a:xfrm>
            <a:off x="731520" y="630936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Intuition: If A_fast ⊥ A_slow, they span different directions → new task doesn't interfere with memory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1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rgbClr val="00D2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</a:t>
            </a:r>
            <a:endParaRPr/>
          </a:p>
        </p:txBody>
      </p:sp>
      <p:sp>
        <p:nvSpPr>
          <p:cNvPr id="169" name="Google Shape;169;p21"/>
          <p:cNvSpPr txBox="1"/>
          <p:nvPr/>
        </p:nvSpPr>
        <p:spPr>
          <a:xfrm>
            <a:off x="1188720" y="320040"/>
            <a:ext cx="9144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Mechanism 2b: Hard Gradient Projection</a:t>
            </a:r>
            <a:endParaRPr b="1" sz="3400">
              <a:solidFill>
                <a:srgbClr val="FFFFFF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170" name="Google Shape;170;p21"/>
          <p:cNvSpPr/>
          <p:nvPr/>
        </p:nvSpPr>
        <p:spPr>
          <a:xfrm>
            <a:off x="1188720" y="1051560"/>
            <a:ext cx="4572000" cy="38100"/>
          </a:xfrm>
          <a:prstGeom prst="rect">
            <a:avLst/>
          </a:prstGeom>
          <a:solidFill>
            <a:srgbClr val="00D2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1"/>
          <p:cNvSpPr txBox="1"/>
          <p:nvPr/>
        </p:nvSpPr>
        <p:spPr>
          <a:xfrm>
            <a:off x="731520" y="128016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CCCC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After backward: project Fast gradients into the null-space of Slow's subspace</a:t>
            </a:r>
            <a:endParaRPr/>
          </a:p>
        </p:txBody>
      </p:sp>
      <p:sp>
        <p:nvSpPr>
          <p:cNvPr id="172" name="Google Shape;172;p21"/>
          <p:cNvSpPr/>
          <p:nvPr/>
        </p:nvSpPr>
        <p:spPr>
          <a:xfrm>
            <a:off x="731520" y="1864723"/>
            <a:ext cx="5029200" cy="1645800"/>
          </a:xfrm>
          <a:prstGeom prst="roundRect">
            <a:avLst>
              <a:gd fmla="val 16667" name="adj"/>
            </a:avLst>
          </a:prstGeom>
          <a:solidFill>
            <a:srgbClr val="101525"/>
          </a:solidFill>
          <a:ln cap="flat" cmpd="sng" w="19050">
            <a:solidFill>
              <a:srgbClr val="00D2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52400" spcFirstLastPara="1" rIns="91425" wrap="square" tIns="76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FFD93D"/>
                </a:solidFill>
                <a:latin typeface="Consolas"/>
                <a:ea typeface="Consolas"/>
                <a:cs typeface="Consolas"/>
                <a:sym typeface="Consolas"/>
              </a:rPr>
              <a:t>For A_fast (shape [r, d_in]):</a:t>
            </a:r>
            <a:endParaRPr/>
          </a:p>
          <a:p>
            <a:pPr indent="0" lvl="0" marL="0" marR="0" rtl="0" algn="ctr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FFD93D"/>
                </a:solidFill>
                <a:latin typeface="Consolas"/>
                <a:ea typeface="Consolas"/>
                <a:cs typeface="Consolas"/>
                <a:sym typeface="Consolas"/>
              </a:rPr>
              <a:t>  Q_A, _ = QR(A_slowᵀ)     ← orthonormal basis</a:t>
            </a:r>
            <a:endParaRPr/>
          </a:p>
          <a:p>
            <a:pPr indent="0" lvl="0" marL="0" marR="0" rtl="0" algn="ctr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FFD93D"/>
                </a:solidFill>
                <a:latin typeface="Consolas"/>
                <a:ea typeface="Consolas"/>
                <a:cs typeface="Consolas"/>
                <a:sym typeface="Consolas"/>
              </a:rPr>
              <a:t>  g_proj = g − (g · Q_A) · Q_Aᵀ</a:t>
            </a:r>
            <a:endParaRPr/>
          </a:p>
          <a:p>
            <a:pPr indent="0" lvl="0" marL="0" marR="0" rtl="0" algn="ctr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FFD93D"/>
                </a:solidFill>
                <a:latin typeface="Consolas"/>
                <a:ea typeface="Consolas"/>
                <a:cs typeface="Consolas"/>
                <a:sym typeface="Consolas"/>
              </a:rPr>
              <a:t>  → removes component in A_slow's row-space</a:t>
            </a:r>
            <a:endParaRPr/>
          </a:p>
        </p:txBody>
      </p:sp>
      <p:sp>
        <p:nvSpPr>
          <p:cNvPr id="173" name="Google Shape;173;p21"/>
          <p:cNvSpPr/>
          <p:nvPr/>
        </p:nvSpPr>
        <p:spPr>
          <a:xfrm>
            <a:off x="6400800" y="1864723"/>
            <a:ext cx="5029200" cy="1645800"/>
          </a:xfrm>
          <a:prstGeom prst="roundRect">
            <a:avLst>
              <a:gd fmla="val 16667" name="adj"/>
            </a:avLst>
          </a:prstGeom>
          <a:solidFill>
            <a:srgbClr val="101525"/>
          </a:solidFill>
          <a:ln cap="flat" cmpd="sng" w="19050">
            <a:solidFill>
              <a:srgbClr val="00D2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52400" spcFirstLastPara="1" rIns="91425" wrap="square" tIns="76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FFD93D"/>
                </a:solidFill>
                <a:latin typeface="Consolas"/>
                <a:ea typeface="Consolas"/>
                <a:cs typeface="Consolas"/>
                <a:sym typeface="Consolas"/>
              </a:rPr>
              <a:t>For B_fast (shape [d_out, r]):</a:t>
            </a:r>
            <a:endParaRPr/>
          </a:p>
          <a:p>
            <a:pPr indent="0" lvl="0" marL="0" marR="0" rtl="0" algn="ctr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FFD93D"/>
                </a:solidFill>
                <a:latin typeface="Consolas"/>
                <a:ea typeface="Consolas"/>
                <a:cs typeface="Consolas"/>
                <a:sym typeface="Consolas"/>
              </a:rPr>
              <a:t>  Q_B, _ = QR(B_slow)      ← orthonormal basis</a:t>
            </a:r>
            <a:endParaRPr/>
          </a:p>
          <a:p>
            <a:pPr indent="0" lvl="0" marL="0" marR="0" rtl="0" algn="ctr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FFD93D"/>
                </a:solidFill>
                <a:latin typeface="Consolas"/>
                <a:ea typeface="Consolas"/>
                <a:cs typeface="Consolas"/>
                <a:sym typeface="Consolas"/>
              </a:rPr>
              <a:t>  g_proj = g − Q_B · (Q_Bᵀ · g)</a:t>
            </a:r>
            <a:endParaRPr/>
          </a:p>
          <a:p>
            <a:pPr indent="0" lvl="0" marL="0" marR="0" rtl="0" algn="ctr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FFD93D"/>
                </a:solidFill>
                <a:latin typeface="Consolas"/>
                <a:ea typeface="Consolas"/>
                <a:cs typeface="Consolas"/>
                <a:sym typeface="Consolas"/>
              </a:rPr>
              <a:t>  → removes component in B_slow's col-space</a:t>
            </a:r>
            <a:endParaRPr/>
          </a:p>
        </p:txBody>
      </p:sp>
      <p:sp>
        <p:nvSpPr>
          <p:cNvPr id="174" name="Google Shape;174;p21"/>
          <p:cNvSpPr/>
          <p:nvPr/>
        </p:nvSpPr>
        <p:spPr>
          <a:xfrm>
            <a:off x="731525" y="3691576"/>
            <a:ext cx="10515600" cy="2800800"/>
          </a:xfrm>
          <a:prstGeom prst="roundRect">
            <a:avLst>
              <a:gd fmla="val 16667" name="adj"/>
            </a:avLst>
          </a:prstGeom>
          <a:solidFill>
            <a:srgbClr val="0D1117"/>
          </a:solidFill>
          <a:ln>
            <a:noFill/>
          </a:ln>
        </p:spPr>
        <p:txBody>
          <a:bodyPr anchorCtr="0" anchor="ctr" bIns="101600" lIns="152400" spcFirstLastPara="1" rIns="152400" wrap="square" tIns="101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00D2FF"/>
                </a:solidFill>
                <a:latin typeface="Consolas"/>
                <a:ea typeface="Consolas"/>
                <a:cs typeface="Consolas"/>
                <a:sym typeface="Consolas"/>
              </a:rPr>
              <a:t>def project_gradients_parameter(dual_layers):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00D2FF"/>
                </a:solidFill>
                <a:latin typeface="Consolas"/>
                <a:ea typeface="Consolas"/>
                <a:cs typeface="Consolas"/>
                <a:sym typeface="Consolas"/>
              </a:rPr>
              <a:t>    for layer in dual_layers: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00D2FF"/>
                </a:solidFill>
                <a:latin typeface="Consolas"/>
                <a:ea typeface="Consolas"/>
                <a:cs typeface="Consolas"/>
                <a:sym typeface="Consolas"/>
              </a:rPr>
              <a:t>        A_s, B_s = layer.get_slow_params()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00D2FF"/>
                </a:solidFill>
                <a:latin typeface="Consolas"/>
                <a:ea typeface="Consolas"/>
                <a:cs typeface="Consolas"/>
                <a:sym typeface="Consolas"/>
              </a:rPr>
              <a:t>        A_f, B_f = layer.get_fast_params()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00D2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00D2FF"/>
                </a:solidFill>
                <a:latin typeface="Consolas"/>
                <a:ea typeface="Consolas"/>
                <a:cs typeface="Consolas"/>
                <a:sym typeface="Consolas"/>
              </a:rPr>
              <a:t>        # A_fast: null-space of A_slow's row-space (in R^{d_in})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00D2FF"/>
                </a:solidFill>
                <a:latin typeface="Consolas"/>
                <a:ea typeface="Consolas"/>
                <a:cs typeface="Consolas"/>
                <a:sym typeface="Consolas"/>
              </a:rPr>
              <a:t>        Q_A, _ = torch.linalg.qr(A_s.T)       # [d_in, r]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00D2FF"/>
                </a:solidFill>
                <a:latin typeface="Consolas"/>
                <a:ea typeface="Consolas"/>
                <a:cs typeface="Consolas"/>
                <a:sym typeface="Consolas"/>
              </a:rPr>
              <a:t>        A_f.grad = g - (g @ Q_A) @ Q_A.T       # project out Slow's directions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0" i="0" sz="1300" u="none" cap="none" strike="noStrike">
              <a:solidFill>
                <a:srgbClr val="00D2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00D2FF"/>
                </a:solidFill>
                <a:latin typeface="Consolas"/>
                <a:ea typeface="Consolas"/>
                <a:cs typeface="Consolas"/>
                <a:sym typeface="Consolas"/>
              </a:rPr>
              <a:t>        # B_fast: null-space of B_slow's column-space (in R^{d_out})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00D2FF"/>
                </a:solidFill>
                <a:latin typeface="Consolas"/>
                <a:ea typeface="Consolas"/>
                <a:cs typeface="Consolas"/>
                <a:sym typeface="Consolas"/>
              </a:rPr>
              <a:t>        Q_B, _ = torch.linalg.qr(B_s)          # [d_out, r]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00D2FF"/>
                </a:solidFill>
                <a:latin typeface="Consolas"/>
                <a:ea typeface="Consolas"/>
                <a:cs typeface="Consolas"/>
                <a:sym typeface="Consolas"/>
              </a:rPr>
              <a:t>        B_f.grad = g - Q_B @ (Q_B.T @ g)       # project out Slow's directions</a:t>
            </a:r>
            <a:endParaRPr/>
          </a:p>
        </p:txBody>
      </p:sp>
      <p:sp>
        <p:nvSpPr>
          <p:cNvPr id="175" name="Google Shape;175;p21"/>
          <p:cNvSpPr txBox="1"/>
          <p:nvPr/>
        </p:nvSpPr>
        <p:spPr>
          <a:xfrm>
            <a:off x="731520" y="6492240"/>
            <a:ext cx="10058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2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rgbClr val="00D2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</a:t>
            </a:r>
            <a:endParaRPr/>
          </a:p>
        </p:txBody>
      </p:sp>
      <p:sp>
        <p:nvSpPr>
          <p:cNvPr id="181" name="Google Shape;181;p22"/>
          <p:cNvSpPr txBox="1"/>
          <p:nvPr/>
        </p:nvSpPr>
        <p:spPr>
          <a:xfrm>
            <a:off x="1188720" y="320040"/>
            <a:ext cx="9144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Mechanism 3: Important Module Freezing</a:t>
            </a:r>
            <a:endParaRPr/>
          </a:p>
        </p:txBody>
      </p:sp>
      <p:sp>
        <p:nvSpPr>
          <p:cNvPr id="182" name="Google Shape;182;p22"/>
          <p:cNvSpPr/>
          <p:nvPr/>
        </p:nvSpPr>
        <p:spPr>
          <a:xfrm>
            <a:off x="1188720" y="1051560"/>
            <a:ext cx="4572000" cy="38100"/>
          </a:xfrm>
          <a:prstGeom prst="rect">
            <a:avLst/>
          </a:prstGeom>
          <a:solidFill>
            <a:srgbClr val="00D2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2"/>
          <p:cNvSpPr txBox="1"/>
          <p:nvPr/>
        </p:nvSpPr>
        <p:spPr>
          <a:xfrm>
            <a:off x="731520" y="118872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CCCC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Freeze the most "important" LoRA modules to permanently protect critical memory</a:t>
            </a:r>
            <a:endParaRPr/>
          </a:p>
        </p:txBody>
      </p:sp>
      <p:sp>
        <p:nvSpPr>
          <p:cNvPr id="184" name="Google Shape;184;p22"/>
          <p:cNvSpPr/>
          <p:nvPr/>
        </p:nvSpPr>
        <p:spPr>
          <a:xfrm>
            <a:off x="731520" y="1828800"/>
            <a:ext cx="5029200" cy="3200400"/>
          </a:xfrm>
          <a:prstGeom prst="roundRect">
            <a:avLst>
              <a:gd fmla="val 16667" name="adj"/>
            </a:avLst>
          </a:prstGeom>
          <a:solidFill>
            <a:srgbClr val="101525"/>
          </a:solidFill>
          <a:ln cap="flat" cmpd="sng" w="19050">
            <a:solidFill>
              <a:srgbClr val="00D2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52400" spcFirstLastPara="1" rIns="91425" wrap="square" tIns="762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FFD93D"/>
                </a:solidFill>
                <a:latin typeface="Consolas"/>
                <a:ea typeface="Consolas"/>
                <a:cs typeface="Consolas"/>
                <a:sym typeface="Consolas"/>
              </a:rPr>
              <a:t>Step 1: Sensitivity (per step)</a:t>
            </a:r>
            <a:endParaRPr/>
          </a:p>
          <a:p>
            <a:pPr indent="0" lvl="0" marL="0" marR="0" rtl="0" algn="ctr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FFD93D"/>
                </a:solidFill>
                <a:latin typeface="Consolas"/>
                <a:ea typeface="Consolas"/>
                <a:cs typeface="Consolas"/>
                <a:sym typeface="Consolas"/>
              </a:rPr>
              <a:t>  I(θ) = |∇θ|          (gradient magnitude)</a:t>
            </a:r>
            <a:endParaRPr/>
          </a:p>
          <a:p>
            <a:pPr indent="0" lvl="0" marL="0" marR="0" rtl="0" algn="ctr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FFD93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ctr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FFD93D"/>
                </a:solidFill>
                <a:latin typeface="Consolas"/>
                <a:ea typeface="Consolas"/>
                <a:cs typeface="Consolas"/>
                <a:sym typeface="Consolas"/>
              </a:rPr>
              <a:t>Step 2: EMA Smoothing</a:t>
            </a:r>
            <a:endParaRPr/>
          </a:p>
          <a:p>
            <a:pPr indent="0" lvl="0" marL="0" marR="0" rtl="0" algn="ctr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FFD93D"/>
                </a:solidFill>
                <a:latin typeface="Consolas"/>
                <a:ea typeface="Consolas"/>
                <a:cs typeface="Consolas"/>
                <a:sym typeface="Consolas"/>
              </a:rPr>
              <a:t>  bar_I ← β₁·bar_I + (1−β₁)·I    (β₁=0.85)</a:t>
            </a:r>
            <a:endParaRPr/>
          </a:p>
          <a:p>
            <a:pPr indent="0" lvl="0" marL="0" marR="0" rtl="0" algn="ctr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FFD93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ctr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FFD93D"/>
                </a:solidFill>
                <a:latin typeface="Consolas"/>
                <a:ea typeface="Consolas"/>
                <a:cs typeface="Consolas"/>
                <a:sym typeface="Consolas"/>
              </a:rPr>
              <a:t>Step 3: Module Score</a:t>
            </a:r>
            <a:endParaRPr/>
          </a:p>
          <a:p>
            <a:pPr indent="0" lvl="0" marL="0" marR="0" rtl="0" algn="ctr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FFD93D"/>
                </a:solidFill>
                <a:latin typeface="Consolas"/>
                <a:ea typeface="Consolas"/>
                <a:cs typeface="Consolas"/>
                <a:sym typeface="Consolas"/>
              </a:rPr>
              <a:t>  S(module) = mean(bar_I)  over A_fast, B_fast</a:t>
            </a:r>
            <a:endParaRPr/>
          </a:p>
          <a:p>
            <a:pPr indent="0" lvl="0" marL="0" marR="0" rtl="0" algn="ctr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rgbClr val="FFD93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ctr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FFD93D"/>
                </a:solidFill>
                <a:latin typeface="Consolas"/>
                <a:ea typeface="Consolas"/>
                <a:cs typeface="Consolas"/>
                <a:sym typeface="Consolas"/>
              </a:rPr>
              <a:t>Step 4: Freeze top-p% (p=10%, cap=30%)</a:t>
            </a:r>
            <a:endParaRPr/>
          </a:p>
        </p:txBody>
      </p:sp>
      <p:sp>
        <p:nvSpPr>
          <p:cNvPr id="185" name="Google Shape;185;p22"/>
          <p:cNvSpPr/>
          <p:nvPr/>
        </p:nvSpPr>
        <p:spPr>
          <a:xfrm>
            <a:off x="6400800" y="1828800"/>
            <a:ext cx="5029200" cy="3200400"/>
          </a:xfrm>
          <a:prstGeom prst="roundRect">
            <a:avLst>
              <a:gd fmla="val 16667" name="adj"/>
            </a:avLst>
          </a:prstGeom>
          <a:solidFill>
            <a:srgbClr val="0D1117"/>
          </a:solidFill>
          <a:ln>
            <a:noFill/>
          </a:ln>
        </p:spPr>
        <p:txBody>
          <a:bodyPr anchorCtr="0" anchor="ctr" bIns="101600" lIns="152400" spcFirstLastPara="1" rIns="152400" wrap="square" tIns="1016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D2FF"/>
                </a:solidFill>
                <a:latin typeface="Consolas"/>
                <a:ea typeface="Consolas"/>
                <a:cs typeface="Consolas"/>
                <a:sym typeface="Consolas"/>
              </a:rPr>
              <a:t># At each task boundary: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D2FF"/>
                </a:solidFill>
                <a:latin typeface="Consolas"/>
                <a:ea typeface="Consolas"/>
                <a:cs typeface="Consolas"/>
                <a:sym typeface="Consolas"/>
              </a:rPr>
              <a:t>scores = tracker.get_module_scores()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D2FF"/>
                </a:solidFill>
                <a:latin typeface="Consolas"/>
                <a:ea typeface="Consolas"/>
                <a:cs typeface="Consolas"/>
                <a:sym typeface="Consolas"/>
              </a:rPr>
              <a:t>ranked = sort(scores, descending)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D2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D2FF"/>
                </a:solidFill>
                <a:latin typeface="Consolas"/>
                <a:ea typeface="Consolas"/>
                <a:cs typeface="Consolas"/>
                <a:sym typeface="Consolas"/>
              </a:rPr>
              <a:t># Freeze top 10% of 112 modules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D2FF"/>
                </a:solidFill>
                <a:latin typeface="Consolas"/>
                <a:ea typeface="Consolas"/>
                <a:cs typeface="Consolas"/>
                <a:sym typeface="Consolas"/>
              </a:rPr>
              <a:t>#  ≈ 11 modules per task boundary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D2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D2FF"/>
                </a:solidFill>
                <a:latin typeface="Consolas"/>
                <a:ea typeface="Consolas"/>
                <a:cs typeface="Consolas"/>
                <a:sym typeface="Consolas"/>
              </a:rPr>
              <a:t>for key in ranked[:top_p]: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D2FF"/>
                </a:solidFill>
                <a:latin typeface="Consolas"/>
                <a:ea typeface="Consolas"/>
                <a:cs typeface="Consolas"/>
                <a:sym typeface="Consolas"/>
              </a:rPr>
              <a:t>  A_fast.requires_grad = False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D2FF"/>
                </a:solidFill>
                <a:latin typeface="Consolas"/>
                <a:ea typeface="Consolas"/>
                <a:cs typeface="Consolas"/>
                <a:sym typeface="Consolas"/>
              </a:rPr>
              <a:t>  B_fast.requires_grad = False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D2FF"/>
                </a:solidFill>
                <a:latin typeface="Consolas"/>
                <a:ea typeface="Consolas"/>
                <a:cs typeface="Consolas"/>
                <a:sym typeface="Consolas"/>
              </a:rPr>
              <a:t>  # Skip in consolidate_after_task()</a:t>
            </a:r>
            <a:endParaRPr/>
          </a:p>
        </p:txBody>
      </p:sp>
      <p:sp>
        <p:nvSpPr>
          <p:cNvPr id="186" name="Google Shape;186;p22"/>
          <p:cNvSpPr txBox="1"/>
          <p:nvPr/>
        </p:nvSpPr>
        <p:spPr>
          <a:xfrm>
            <a:off x="731520" y="5303520"/>
            <a:ext cx="10515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Why |∇θ| instead of |θ·∇θ|?  B_fast starts at 0 (LoRA init), so |θ·∇θ| = 0 always — scores collapse to zero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Frozen modules: excluded from optimizer, Slow slot preserved during consolidation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CCCC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Effect: critical past-task parameters are permanently locked, preventing overwrite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3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rgbClr val="00D2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9</a:t>
            </a:r>
            <a:endParaRPr/>
          </a:p>
        </p:txBody>
      </p:sp>
      <p:sp>
        <p:nvSpPr>
          <p:cNvPr id="192" name="Google Shape;192;p23"/>
          <p:cNvSpPr txBox="1"/>
          <p:nvPr/>
        </p:nvSpPr>
        <p:spPr>
          <a:xfrm>
            <a:off x="1188720" y="320040"/>
            <a:ext cx="9144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Task Consolidation: QR + SVD Compression</a:t>
            </a:r>
            <a:endParaRPr/>
          </a:p>
        </p:txBody>
      </p:sp>
      <p:sp>
        <p:nvSpPr>
          <p:cNvPr id="193" name="Google Shape;193;p23"/>
          <p:cNvSpPr/>
          <p:nvPr/>
        </p:nvSpPr>
        <p:spPr>
          <a:xfrm>
            <a:off x="1188720" y="1051560"/>
            <a:ext cx="4572000" cy="38100"/>
          </a:xfrm>
          <a:prstGeom prst="rect">
            <a:avLst/>
          </a:prstGeom>
          <a:solidFill>
            <a:srgbClr val="00D2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3"/>
          <p:cNvSpPr/>
          <p:nvPr/>
        </p:nvSpPr>
        <p:spPr>
          <a:xfrm>
            <a:off x="731525" y="1737350"/>
            <a:ext cx="10515600" cy="3325800"/>
          </a:xfrm>
          <a:prstGeom prst="roundRect">
            <a:avLst>
              <a:gd fmla="val 16667" name="adj"/>
            </a:avLst>
          </a:prstGeom>
          <a:solidFill>
            <a:srgbClr val="101525"/>
          </a:solidFill>
          <a:ln cap="flat" cmpd="sng" w="19050">
            <a:solidFill>
              <a:srgbClr val="00D2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152400" spcFirstLastPara="1" rIns="91425" wrap="square" tIns="76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FFD93D"/>
                </a:solidFill>
                <a:latin typeface="Consolas"/>
                <a:ea typeface="Consolas"/>
                <a:cs typeface="Consolas"/>
                <a:sym typeface="Consolas"/>
              </a:rPr>
              <a:t>1. Concatenate:   B_cat = [B_slow, B_fast]   (d_o</a:t>
            </a:r>
            <a:r>
              <a:rPr b="0" i="0" lang="en-US" u="none" cap="none" strike="noStrike">
                <a:solidFill>
                  <a:srgbClr val="FFD93D"/>
                </a:solidFill>
                <a:latin typeface="Consolas"/>
                <a:ea typeface="Consolas"/>
                <a:cs typeface="Consolas"/>
                <a:sym typeface="Consolas"/>
              </a:rPr>
              <a:t>ut × 2r)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FFD93D"/>
                </a:solidFill>
                <a:latin typeface="Consolas"/>
                <a:ea typeface="Consolas"/>
                <a:cs typeface="Consolas"/>
                <a:sym typeface="Consolas"/>
              </a:rPr>
              <a:t>A_cat = [A_slow; A_fast]   (2r × d_in)</a:t>
            </a:r>
            <a:endParaRPr>
              <a:solidFill>
                <a:srgbClr val="FFD93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FFD93D"/>
                </a:solidFill>
                <a:latin typeface="Consolas"/>
                <a:ea typeface="Consolas"/>
                <a:cs typeface="Consolas"/>
                <a:sym typeface="Consolas"/>
              </a:rPr>
              <a:t>2. Thin QR:       Q_B, R_B = QR(B_cat)       Q_A, R_A = QR(A_catᵀ)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FFD93D"/>
                </a:solidFill>
                <a:latin typeface="Consolas"/>
                <a:ea typeface="Consolas"/>
                <a:cs typeface="Consolas"/>
                <a:sym typeface="Consolas"/>
              </a:rPr>
              <a:t>3. Core matrix:   M = R_B · R_Aᵀ             (small 2r × 2r matrix)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FFD93D"/>
                </a:solidFill>
                <a:latin typeface="Consolas"/>
                <a:ea typeface="Consolas"/>
                <a:cs typeface="Consolas"/>
                <a:sym typeface="Consolas"/>
              </a:rPr>
              <a:t>4. Best rank-r:   U, S, Vᵀ = SVD(M)          truncate to top-r singular values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FFD93D"/>
                </a:solidFill>
                <a:latin typeface="Consolas"/>
                <a:ea typeface="Consolas"/>
                <a:cs typeface="Consolas"/>
                <a:sym typeface="Consolas"/>
              </a:rPr>
              <a:t>5. New Slow:      B_slow_new = Q_B · U_r · √S_r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FFD93D"/>
                </a:solidFill>
                <a:latin typeface="Consolas"/>
                <a:ea typeface="Consolas"/>
                <a:cs typeface="Consolas"/>
                <a:sym typeface="Consolas"/>
              </a:rPr>
              <a:t>A_slow_new = √S_r · V_rᵀ · Q_Aᵀ</a:t>
            </a:r>
            <a:endParaRPr/>
          </a:p>
        </p:txBody>
      </p:sp>
      <p:sp>
        <p:nvSpPr>
          <p:cNvPr id="195" name="Google Shape;195;p23"/>
          <p:cNvSpPr txBox="1"/>
          <p:nvPr/>
        </p:nvSpPr>
        <p:spPr>
          <a:xfrm>
            <a:off x="731520" y="128016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CCCC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At end of each task: merge Slow + Fast back into rank-r Slow adapter</a:t>
            </a:r>
            <a:endParaRPr/>
          </a:p>
        </p:txBody>
      </p:sp>
      <p:sp>
        <p:nvSpPr>
          <p:cNvPr id="196" name="Google Shape;196;p23"/>
          <p:cNvSpPr/>
          <p:nvPr/>
        </p:nvSpPr>
        <p:spPr>
          <a:xfrm>
            <a:off x="731520" y="5212080"/>
            <a:ext cx="10515600" cy="1371600"/>
          </a:xfrm>
          <a:prstGeom prst="roundRect">
            <a:avLst>
              <a:gd fmla="val 16667" name="adj"/>
            </a:avLst>
          </a:prstGeom>
          <a:solidFill>
            <a:srgbClr val="0D1117"/>
          </a:solidFill>
          <a:ln>
            <a:noFill/>
          </a:ln>
        </p:spPr>
        <p:txBody>
          <a:bodyPr anchorCtr="0" anchor="ctr" bIns="101600" lIns="152400" spcFirstLastPara="1" rIns="152400" wrap="square" tIns="101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D2FF"/>
                </a:solidFill>
                <a:latin typeface="Consolas"/>
                <a:ea typeface="Consolas"/>
                <a:cs typeface="Consolas"/>
                <a:sym typeface="Consolas"/>
              </a:rPr>
              <a:t># After consolidation: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D2FF"/>
                </a:solidFill>
                <a:latin typeface="Consolas"/>
                <a:ea typeface="Consolas"/>
                <a:cs typeface="Consolas"/>
                <a:sym typeface="Consolas"/>
              </a:rPr>
              <a:t>layer.A_slow = A_slow_new     # Updated memory (rank r preserved)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D2FF"/>
                </a:solidFill>
                <a:latin typeface="Consolas"/>
                <a:ea typeface="Consolas"/>
                <a:cs typeface="Consolas"/>
                <a:sym typeface="Consolas"/>
              </a:rPr>
              <a:t>layer.B_slow = B_slow_new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D2FF"/>
                </a:solidFill>
                <a:latin typeface="Consolas"/>
                <a:ea typeface="Consolas"/>
                <a:cs typeface="Consolas"/>
                <a:sym typeface="Consolas"/>
              </a:rPr>
              <a:t>layer.A_fast = Kaiming_init   # Reset for next task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D2FF"/>
                </a:solidFill>
                <a:latin typeface="Consolas"/>
                <a:ea typeface="Consolas"/>
                <a:cs typeface="Consolas"/>
                <a:sym typeface="Consolas"/>
              </a:rPr>
              <a:t>layer.B_fast = zeros          # Clean slate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4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rgbClr val="00D2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</a:t>
            </a:r>
            <a:endParaRPr/>
          </a:p>
        </p:txBody>
      </p:sp>
      <p:sp>
        <p:nvSpPr>
          <p:cNvPr id="202" name="Google Shape;202;p24"/>
          <p:cNvSpPr txBox="1"/>
          <p:nvPr/>
        </p:nvSpPr>
        <p:spPr>
          <a:xfrm>
            <a:off x="1188720" y="320040"/>
            <a:ext cx="9144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Full Training Pipeline</a:t>
            </a:r>
            <a:endParaRPr/>
          </a:p>
        </p:txBody>
      </p:sp>
      <p:sp>
        <p:nvSpPr>
          <p:cNvPr id="203" name="Google Shape;203;p24"/>
          <p:cNvSpPr/>
          <p:nvPr/>
        </p:nvSpPr>
        <p:spPr>
          <a:xfrm>
            <a:off x="1188720" y="1051560"/>
            <a:ext cx="4572000" cy="38100"/>
          </a:xfrm>
          <a:prstGeom prst="rect">
            <a:avLst/>
          </a:prstGeom>
          <a:solidFill>
            <a:srgbClr val="00D2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4"/>
          <p:cNvSpPr/>
          <p:nvPr/>
        </p:nvSpPr>
        <p:spPr>
          <a:xfrm>
            <a:off x="457200" y="1188720"/>
            <a:ext cx="11247120" cy="5303520"/>
          </a:xfrm>
          <a:prstGeom prst="roundRect">
            <a:avLst>
              <a:gd fmla="val 16667" name="adj"/>
            </a:avLst>
          </a:prstGeom>
          <a:solidFill>
            <a:srgbClr val="0D1117"/>
          </a:solidFill>
          <a:ln>
            <a:noFill/>
          </a:ln>
        </p:spPr>
        <p:txBody>
          <a:bodyPr anchorCtr="0" anchor="ctr" bIns="101600" lIns="152400" spcFirstLastPara="1" rIns="152400" wrap="square" tIns="1016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D2FF"/>
                </a:solidFill>
                <a:latin typeface="Consolas"/>
                <a:ea typeface="Consolas"/>
                <a:cs typeface="Consolas"/>
                <a:sym typeface="Consolas"/>
              </a:rPr>
              <a:t>for task_idx, task in enumerate([SST-2, AG_News, Amazon_Reviews, DBPedia_14]):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D2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D2FF"/>
                </a:solidFill>
                <a:latin typeface="Consolas"/>
                <a:ea typeface="Consolas"/>
                <a:cs typeface="Consolas"/>
                <a:sym typeface="Consolas"/>
              </a:rPr>
              <a:t>    # ── Phase: Training ──────────────────────────────────────────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D2FF"/>
                </a:solidFill>
                <a:latin typeface="Consolas"/>
                <a:ea typeface="Consolas"/>
                <a:cs typeface="Consolas"/>
                <a:sym typeface="Consolas"/>
              </a:rPr>
              <a:t>    freeze(Slow_LoRA)                 # Slow is read-only during training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D2FF"/>
                </a:solidFill>
                <a:latin typeface="Consolas"/>
                <a:ea typeface="Consolas"/>
                <a:cs typeface="Consolas"/>
                <a:sym typeface="Consolas"/>
              </a:rPr>
              <a:t>    optimizer = AdamW(Fast_params + classification_head)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D2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D2FF"/>
                </a:solidFill>
                <a:latin typeface="Consolas"/>
                <a:ea typeface="Consolas"/>
                <a:cs typeface="Consolas"/>
                <a:sym typeface="Consolas"/>
              </a:rPr>
              <a:t>    for step in range(670):           # num_train_steps_per_task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D2FF"/>
                </a:solidFill>
                <a:latin typeface="Consolas"/>
                <a:ea typeface="Consolas"/>
                <a:cs typeface="Consolas"/>
                <a:sym typeface="Consolas"/>
              </a:rPr>
              <a:t>        batch = mix(current_data, replay_buffer, ratio=0.1)  # Step 1: Replay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D2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D2FF"/>
                </a:solidFill>
                <a:latin typeface="Consolas"/>
                <a:ea typeface="Consolas"/>
                <a:cs typeface="Consolas"/>
                <a:sym typeface="Consolas"/>
              </a:rPr>
              <a:t>        loss = model(batch)           # Step 2: Forward (base + slow + fast)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D2FF"/>
                </a:solidFill>
                <a:latin typeface="Consolas"/>
                <a:ea typeface="Consolas"/>
                <a:cs typeface="Consolas"/>
                <a:sym typeface="Consolas"/>
              </a:rPr>
              <a:t>        L = loss + λ · L_orth         # Step 3: Soft orthogonal penalty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D2FF"/>
                </a:solidFill>
                <a:latin typeface="Consolas"/>
                <a:ea typeface="Consolas"/>
                <a:cs typeface="Consolas"/>
                <a:sym typeface="Consolas"/>
              </a:rPr>
              <a:t>        L.backward()                  # Step 4: Backward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D2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D2FF"/>
                </a:solidFill>
                <a:latin typeface="Consolas"/>
                <a:ea typeface="Consolas"/>
                <a:cs typeface="Consolas"/>
                <a:sym typeface="Consolas"/>
              </a:rPr>
              <a:t>        ipc_tracker.update(grads)     # Step 5: Update importance stats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D2FF"/>
                </a:solidFill>
                <a:latin typeface="Consolas"/>
                <a:ea typeface="Consolas"/>
                <a:cs typeface="Consolas"/>
                <a:sym typeface="Consolas"/>
              </a:rPr>
              <a:t>        project_gradients(Fast, Slow) # Step 6: Hard gradient projection (GPM)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D2FF"/>
                </a:solidFill>
                <a:latin typeface="Consolas"/>
                <a:ea typeface="Consolas"/>
                <a:cs typeface="Consolas"/>
                <a:sym typeface="Consolas"/>
              </a:rPr>
              <a:t>        optimizer.step()              # Step 7: Update Fast only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D2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D2FF"/>
                </a:solidFill>
                <a:latin typeface="Consolas"/>
                <a:ea typeface="Consolas"/>
                <a:cs typeface="Consolas"/>
                <a:sym typeface="Consolas"/>
              </a:rPr>
              <a:t>    # ── Phase: Task Boundary ─────────────────────────────────────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D2FF"/>
                </a:solidFill>
                <a:latin typeface="Consolas"/>
                <a:ea typeface="Consolas"/>
                <a:cs typeface="Consolas"/>
                <a:sym typeface="Consolas"/>
              </a:rPr>
              <a:t>    consolidate_after_task()          # QR+SVD: merge Fast → Slow, reset Fast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D2FF"/>
                </a:solidFill>
                <a:latin typeface="Consolas"/>
                <a:ea typeface="Consolas"/>
                <a:cs typeface="Consolas"/>
                <a:sym typeface="Consolas"/>
              </a:rPr>
              <a:t>    ipc_freeze(top_10%)              # Freeze most important modules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D2FF"/>
                </a:solidFill>
                <a:latin typeface="Consolas"/>
                <a:ea typeface="Consolas"/>
                <a:cs typeface="Consolas"/>
                <a:sym typeface="Consolas"/>
              </a:rPr>
              <a:t>    evaluate(all_tasks)              # Track CL metrics (ACC, BWT, FWT)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2E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5"/>
          <p:cNvSpPr/>
          <p:nvPr/>
        </p:nvSpPr>
        <p:spPr>
          <a:xfrm>
            <a:off x="457200" y="365760"/>
            <a:ext cx="548640" cy="548640"/>
          </a:xfrm>
          <a:prstGeom prst="ellipse">
            <a:avLst/>
          </a:prstGeom>
          <a:solidFill>
            <a:srgbClr val="00D2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A1A2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11</a:t>
            </a:r>
            <a:endParaRPr/>
          </a:p>
        </p:txBody>
      </p:sp>
      <p:sp>
        <p:nvSpPr>
          <p:cNvPr id="210" name="Google Shape;210;p25"/>
          <p:cNvSpPr txBox="1"/>
          <p:nvPr/>
        </p:nvSpPr>
        <p:spPr>
          <a:xfrm>
            <a:off x="1188720" y="320040"/>
            <a:ext cx="9144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Experiment Setup</a:t>
            </a:r>
            <a:endParaRPr/>
          </a:p>
        </p:txBody>
      </p:sp>
      <p:sp>
        <p:nvSpPr>
          <p:cNvPr id="211" name="Google Shape;211;p25"/>
          <p:cNvSpPr/>
          <p:nvPr/>
        </p:nvSpPr>
        <p:spPr>
          <a:xfrm>
            <a:off x="1188720" y="1051560"/>
            <a:ext cx="4572000" cy="38100"/>
          </a:xfrm>
          <a:prstGeom prst="rect">
            <a:avLst/>
          </a:prstGeom>
          <a:solidFill>
            <a:srgbClr val="00D2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5"/>
          <p:cNvSpPr txBox="1"/>
          <p:nvPr/>
        </p:nvSpPr>
        <p:spPr>
          <a:xfrm>
            <a:off x="731520" y="128016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Training Configuration</a:t>
            </a:r>
            <a:endParaRPr/>
          </a:p>
        </p:txBody>
      </p:sp>
      <p:sp>
        <p:nvSpPr>
          <p:cNvPr id="213" name="Google Shape;213;p25"/>
          <p:cNvSpPr txBox="1"/>
          <p:nvPr/>
        </p:nvSpPr>
        <p:spPr>
          <a:xfrm>
            <a:off x="731520" y="1737360"/>
            <a:ext cx="50292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Model: Qwen2.5-1.5B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Tasks: SST-2 → AG News → Amazon → DBPedia-14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Training steps: 670 per task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Learning rate: 2e-4 (AdamW + linear warmup)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Batch size: 15 (+ 4 replay)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Max input length: 256 tokens</a:t>
            </a:r>
            <a:endParaRPr/>
          </a:p>
        </p:txBody>
      </p:sp>
      <p:sp>
        <p:nvSpPr>
          <p:cNvPr id="214" name="Google Shape;214;p25"/>
          <p:cNvSpPr txBox="1"/>
          <p:nvPr/>
        </p:nvSpPr>
        <p:spPr>
          <a:xfrm>
            <a:off x="6400800" y="128016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DLOG-Specific Hyperparams</a:t>
            </a:r>
            <a:endParaRPr/>
          </a:p>
        </p:txBody>
      </p:sp>
      <p:sp>
        <p:nvSpPr>
          <p:cNvPr id="215" name="Google Shape;215;p25"/>
          <p:cNvSpPr txBox="1"/>
          <p:nvPr/>
        </p:nvSpPr>
        <p:spPr>
          <a:xfrm>
            <a:off x="6400800" y="1737360"/>
            <a:ext cx="5029200" cy="21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LoRA rank: 16,  alpha: 16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Replay buffer: 400 per task (reservoir)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Replay ratio: 10%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Soft constraint: λ_orth = 0.01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Hard constraint: GPM parameter projection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IPC: freeze top 10%</a:t>
            </a:r>
            <a:endParaRPr/>
          </a:p>
        </p:txBody>
      </p:sp>
      <p:sp>
        <p:nvSpPr>
          <p:cNvPr id="216" name="Google Shape;216;p25"/>
          <p:cNvSpPr txBox="1"/>
          <p:nvPr/>
        </p:nvSpPr>
        <p:spPr>
          <a:xfrm>
            <a:off x="731520" y="457200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6B6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Baselines for Comparison:</a:t>
            </a:r>
            <a:endParaRPr/>
          </a:p>
        </p:txBody>
      </p:sp>
      <p:sp>
        <p:nvSpPr>
          <p:cNvPr id="217" name="Google Shape;217;p25"/>
          <p:cNvSpPr txBox="1"/>
          <p:nvPr/>
        </p:nvSpPr>
        <p:spPr>
          <a:xfrm>
            <a:off x="731520" y="5029200"/>
            <a:ext cx="10515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Single LoRA + Replay — no Slow/Fast separation, no orthogonal gating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DLOG (no replay) — ablation: same architecture but pure sequential fine-tuning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CCCC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DLOG (full) — complete system with all 3 mechanisms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76900"/>
            <a:ext cx="9776041" cy="3564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3741000"/>
            <a:ext cx="6335988" cy="311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9629074" cy="36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3804800"/>
            <a:ext cx="6454750" cy="3053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1A1A2E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8"/>
          <p:cNvSpPr txBox="1"/>
          <p:nvPr/>
        </p:nvSpPr>
        <p:spPr>
          <a:xfrm>
            <a:off x="914400" y="109728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00D2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Summary</a:t>
            </a:r>
            <a:endParaRPr/>
          </a:p>
        </p:txBody>
      </p:sp>
      <p:sp>
        <p:nvSpPr>
          <p:cNvPr id="235" name="Google Shape;235;p28"/>
          <p:cNvSpPr/>
          <p:nvPr/>
        </p:nvSpPr>
        <p:spPr>
          <a:xfrm>
            <a:off x="4114800" y="2011680"/>
            <a:ext cx="3657600" cy="38100"/>
          </a:xfrm>
          <a:prstGeom prst="rect">
            <a:avLst/>
          </a:prstGeom>
          <a:solidFill>
            <a:srgbClr val="00D2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8"/>
          <p:cNvSpPr txBox="1"/>
          <p:nvPr/>
        </p:nvSpPr>
        <p:spPr>
          <a:xfrm>
            <a:off x="1371600" y="2377440"/>
            <a:ext cx="91440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CCCC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DLOG separates knowledge into Slow (memory) and Fast (task) LoRA adapters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CCCC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Orthogonal Gating (soft + hard) ensures new learning does not corrupt old knowledge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CCCC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Reservoir Replay provides gradient signal from past tasks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CCCC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IPC Freezing permanently protects the most critical modules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CCCC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QR+SVD consolidation compresses both adapters back to rank-r at each task boundary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CCCC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All mechanisms are complementary — each addresses a different aspect of forgetting</a:t>
            </a:r>
            <a:endParaRPr/>
          </a:p>
        </p:txBody>
      </p:sp>
      <p:sp>
        <p:nvSpPr>
          <p:cNvPr id="237" name="Google Shape;237;p28"/>
          <p:cNvSpPr txBox="1"/>
          <p:nvPr/>
        </p:nvSpPr>
        <p:spPr>
          <a:xfrm>
            <a:off x="914400" y="5669280"/>
            <a:ext cx="10058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